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eague Spartan" charset="1" panose="00000800000000000000"/>
      <p:regular r:id="rId12"/>
    </p:embeddedFont>
    <p:embeddedFont>
      <p:font typeface="Open Sauce Bold" charset="1" panose="00000800000000000000"/>
      <p:regular r:id="rId13"/>
    </p:embeddedFont>
    <p:embeddedFont>
      <p:font typeface="Open Sauce Light" charset="1" panose="000004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36889" y="3450590"/>
            <a:ext cx="11614223" cy="169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</a:t>
            </a: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cting Customer Satisfaction Scores from Customer Support Data Using Random Forest and Gradient Boosting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54278" y="8966835"/>
            <a:ext cx="497944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By: Matthew Owen Gunawan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8444767"/>
            <a:ext cx="797570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522671" y="2807128"/>
            <a:ext cx="4686015" cy="5099314"/>
          </a:xfrm>
          <a:custGeom>
            <a:avLst/>
            <a:gdLst/>
            <a:ahLst/>
            <a:cxnLst/>
            <a:rect r="r" b="b" t="t" l="l"/>
            <a:pathLst>
              <a:path h="5099314" w="4686015">
                <a:moveTo>
                  <a:pt x="0" y="0"/>
                </a:moveTo>
                <a:lnTo>
                  <a:pt x="4686015" y="0"/>
                </a:lnTo>
                <a:lnTo>
                  <a:pt x="4686015" y="5099314"/>
                </a:lnTo>
                <a:lnTo>
                  <a:pt x="0" y="5099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33459"/>
            <a:ext cx="768748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</a:t>
            </a: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ckground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813935"/>
            <a:ext cx="8115300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Customer Satisfaction Score (CSAT)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Indicator of service quality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Important for customer retention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99399" y="4009552"/>
            <a:ext cx="3240611" cy="1944367"/>
          </a:xfrm>
          <a:custGeom>
            <a:avLst/>
            <a:gdLst/>
            <a:ahLst/>
            <a:cxnLst/>
            <a:rect r="r" b="b" t="t" l="l"/>
            <a:pathLst>
              <a:path h="1944367" w="3240611">
                <a:moveTo>
                  <a:pt x="0" y="0"/>
                </a:moveTo>
                <a:lnTo>
                  <a:pt x="3240611" y="0"/>
                </a:lnTo>
                <a:lnTo>
                  <a:pt x="3240611" y="1944367"/>
                </a:lnTo>
                <a:lnTo>
                  <a:pt x="0" y="1944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09005" y="3372722"/>
            <a:ext cx="2887432" cy="2561940"/>
          </a:xfrm>
          <a:custGeom>
            <a:avLst/>
            <a:gdLst/>
            <a:ahLst/>
            <a:cxnLst/>
            <a:rect r="r" b="b" t="t" l="l"/>
            <a:pathLst>
              <a:path h="2561940" w="2887432">
                <a:moveTo>
                  <a:pt x="0" y="0"/>
                </a:moveTo>
                <a:lnTo>
                  <a:pt x="2887433" y="0"/>
                </a:lnTo>
                <a:lnTo>
                  <a:pt x="2887433" y="2561940"/>
                </a:lnTo>
                <a:lnTo>
                  <a:pt x="0" y="2561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74228" y="3458369"/>
            <a:ext cx="2634458" cy="2495550"/>
          </a:xfrm>
          <a:custGeom>
            <a:avLst/>
            <a:gdLst/>
            <a:ahLst/>
            <a:cxnLst/>
            <a:rect r="r" b="b" t="t" l="l"/>
            <a:pathLst>
              <a:path h="2495550" w="2634458">
                <a:moveTo>
                  <a:pt x="0" y="0"/>
                </a:moveTo>
                <a:lnTo>
                  <a:pt x="2634458" y="0"/>
                </a:lnTo>
                <a:lnTo>
                  <a:pt x="2634458" y="2495550"/>
                </a:lnTo>
                <a:lnTo>
                  <a:pt x="0" y="2495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EXPLORATPRY DATA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23934"/>
            <a:ext cx="162306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Patterns from the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201569"/>
            <a:ext cx="376906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Distribution of CSAT Scor</a:t>
            </a:r>
            <a:r>
              <a:rPr lang="en-US" b="true" sz="27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68189" y="6201569"/>
            <a:ext cx="4802366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Relationship between CSAT Score and Handling Time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07678" y="6201569"/>
            <a:ext cx="422830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 CSAT Score by Agent Tenure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244239"/>
            <a:ext cx="3769064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Most customers gave a CSAT score of 5, indicating overall high satisfaction, while lower scores appear much less frequently, showing a strong class imbalance.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68189" y="7615714"/>
            <a:ext cx="3769064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Handling time shows little variation across CSAT scores, indicating it is not a key driver of satisfaction.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07678" y="7429976"/>
            <a:ext cx="3769064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More experienced agents tend to receive higher CSAT scores, suggesting experience affects customer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20911"/>
            <a:ext cx="6330376" cy="6977369"/>
          </a:xfrm>
          <a:custGeom>
            <a:avLst/>
            <a:gdLst/>
            <a:ahLst/>
            <a:cxnLst/>
            <a:rect r="r" b="b" t="t" l="l"/>
            <a:pathLst>
              <a:path h="6977369" w="6330376">
                <a:moveTo>
                  <a:pt x="0" y="0"/>
                </a:moveTo>
                <a:lnTo>
                  <a:pt x="6330376" y="0"/>
                </a:lnTo>
                <a:lnTo>
                  <a:pt x="6330376" y="6977369"/>
                </a:lnTo>
                <a:lnTo>
                  <a:pt x="0" y="6977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APPROACH AND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43607" y="3101981"/>
            <a:ext cx="8115300" cy="494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Two ensemble models were evaluated: Random Forest and Gradient Boosting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SMOTE was applied to reduce class imbalance in CSAT scores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Both models performed well for CSAT score 5, but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Gradient Boosting showed a more balanced prediction across classes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best Gradient Boosting model achieved approximately 65% accuracy on the test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1501786"/>
            <a:ext cx="749072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Selection and Performance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414318" y="3046845"/>
            <a:ext cx="641150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 of Findings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14318" y="4287994"/>
            <a:ext cx="9459364" cy="494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Customer satisfaction data is highly imbalanced, with most customers giving the highest CSAT score.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Both Random Forest and Gradient Boosting performed well in identifying highly satisfied customers.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Gradient Boosting showed a more balanced prediction across different CSAT levels and achieved around 65% accuracy.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Overall, Gradient Boosting was selected as the most suitable model for this dataset.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076989" y="3303634"/>
            <a:ext cx="3827301" cy="4667441"/>
          </a:xfrm>
          <a:custGeom>
            <a:avLst/>
            <a:gdLst/>
            <a:ahLst/>
            <a:cxnLst/>
            <a:rect r="r" b="b" t="t" l="l"/>
            <a:pathLst>
              <a:path h="4667441" w="3827301">
                <a:moveTo>
                  <a:pt x="0" y="0"/>
                </a:moveTo>
                <a:lnTo>
                  <a:pt x="3827301" y="0"/>
                </a:lnTo>
                <a:lnTo>
                  <a:pt x="3827301" y="4667441"/>
                </a:lnTo>
                <a:lnTo>
                  <a:pt x="0" y="4667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07209" y="3694545"/>
            <a:ext cx="4704183" cy="4276530"/>
          </a:xfrm>
          <a:custGeom>
            <a:avLst/>
            <a:gdLst/>
            <a:ahLst/>
            <a:cxnLst/>
            <a:rect r="r" b="b" t="t" l="l"/>
            <a:pathLst>
              <a:path h="4276530" w="4704183">
                <a:moveTo>
                  <a:pt x="0" y="0"/>
                </a:moveTo>
                <a:lnTo>
                  <a:pt x="4704182" y="0"/>
                </a:lnTo>
                <a:lnTo>
                  <a:pt x="4704182" y="4276530"/>
                </a:lnTo>
                <a:lnTo>
                  <a:pt x="0" y="4276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6547" y="5602268"/>
            <a:ext cx="79149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Thank Your For Listening</a:t>
            </a:r>
          </a:p>
        </p:txBody>
      </p:sp>
      <p:sp>
        <p:nvSpPr>
          <p:cNvPr name="AutoShape 3" id="3"/>
          <p:cNvSpPr/>
          <p:nvPr/>
        </p:nvSpPr>
        <p:spPr>
          <a:xfrm>
            <a:off x="8745215" y="8444767"/>
            <a:ext cx="797570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336889" y="4465617"/>
            <a:ext cx="11614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DAG9wRhASyY</dc:identifier>
  <dcterms:modified xsi:type="dcterms:W3CDTF">2011-08-01T06:04:30Z</dcterms:modified>
  <cp:revision>1</cp:revision>
  <dc:title>ML Project Presentation</dc:title>
</cp:coreProperties>
</file>